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2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049F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1F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VLAN</c:v>
                </c:pt>
                <c:pt idx="1">
                  <c:v>Default Gateway</c:v>
                </c:pt>
                <c:pt idx="2">
                  <c:v>DHCP</c:v>
                </c:pt>
                <c:pt idx="3">
                  <c:v>DNS</c:v>
                </c:pt>
                <c:pt idx="4">
                  <c:v>Routing</c:v>
                </c:pt>
                <c:pt idx="5">
                  <c:v>ACL</c:v>
                </c:pt>
                <c:pt idx="6">
                  <c:v>NAT</c:v>
                </c:pt>
                <c:pt idx="7">
                  <c:v>Wireless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4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6-474A-8CBB-EC0DBC005D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B1F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94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05840"/>
            <a:ext cx="1188720" cy="54864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1554480"/>
            <a:ext cx="0" cy="54864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554480"/>
            <a:ext cx="0" cy="109728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005840"/>
            <a:ext cx="1828800" cy="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103120"/>
            <a:ext cx="0" cy="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2651760"/>
            <a:ext cx="365760" cy="0"/>
          </a:xfrm>
          <a:prstGeom prst="line">
            <a:avLst/>
          </a:prstGeom>
          <a:noFill/>
          <a:ln w="19050">
            <a:solidFill>
              <a:srgbClr val="1D4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10344" y="923544"/>
            <a:ext cx="164592" cy="164592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9" name="Shape 7"/>
          <p:cNvSpPr/>
          <p:nvPr/>
        </p:nvSpPr>
        <p:spPr>
          <a:xfrm>
            <a:off x="10799064" y="1472184"/>
            <a:ext cx="164592" cy="164592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0" name="Shape 8"/>
          <p:cNvSpPr/>
          <p:nvPr/>
        </p:nvSpPr>
        <p:spPr>
          <a:xfrm>
            <a:off x="9244584" y="2020824"/>
            <a:ext cx="164592" cy="164592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1" name="Shape 9"/>
          <p:cNvSpPr/>
          <p:nvPr/>
        </p:nvSpPr>
        <p:spPr>
          <a:xfrm>
            <a:off x="10433304" y="2569464"/>
            <a:ext cx="164592" cy="164592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9144" y="832104"/>
            <a:ext cx="164592" cy="164592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8695944" y="1380744"/>
            <a:ext cx="164592" cy="164592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32C4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92023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+ COMPUTER NETWORKING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057398"/>
            <a:ext cx="8686800" cy="960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NetSage AI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40080" y="2926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Network Troubleshooting System with Human Review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703320"/>
            <a:ext cx="2011680" cy="0"/>
          </a:xfrm>
          <a:prstGeom prst="line">
            <a:avLst/>
          </a:prstGeom>
          <a:noFill/>
          <a:ln w="31750">
            <a:solidFill>
              <a:srgbClr val="049F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690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91840" y="40690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Yadav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44714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91840" y="447141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2410030788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0080" y="4873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91840" y="4873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5276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DOMAIN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91840" y="527608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+ Computer Networking</a:t>
            </a:r>
            <a:endParaRPr lang="en-US" sz="13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B0F0DE-5005-0E39-2572-F93FB64CB24B}"/>
              </a:ext>
            </a:extLst>
          </p:cNvPr>
          <p:cNvSpPr txBox="1"/>
          <p:nvPr/>
        </p:nvSpPr>
        <p:spPr>
          <a:xfrm>
            <a:off x="1918520" y="587387"/>
            <a:ext cx="3552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00BCEB"/>
                </a:solidFill>
              </a:rPr>
              <a:t>IILM UNIVERSITY, GREATER NOIDA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CCDBC68-8005-BA54-AD48-118F78288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05585"/>
            <a:ext cx="1324160" cy="1286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1264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network troubleshooting system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Cisco-style troubleshooting scenarios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deterministic rules with an AI-oriented diagnosis architecture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structured troubleshooting recommendations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mandatory human review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responsible AI approach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69480" y="1938528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049FD9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0" y="19019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0" y="226771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 checks on Cisco-style evidence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0" y="3364992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69480" y="3566160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5295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AI-Oriented Diagnosis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0" y="38953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evidence-backed recommendation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0" y="4992624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69480" y="5193792"/>
            <a:ext cx="146304" cy="100584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515721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89520" y="552297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accepts, edits, or rejects the result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Troubleshooting Is Hard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2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troubleshooting can be complex</a:t>
            </a:r>
            <a:endParaRPr lang="en-US" sz="1400" dirty="0"/>
          </a:p>
          <a:p>
            <a:pPr marL="177800" indent="-177800">
              <a:lnSpc>
                <a:spcPts val="182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symptom can have multiple possible causes</a:t>
            </a:r>
            <a:endParaRPr lang="en-US" sz="1400" dirty="0"/>
          </a:p>
          <a:p>
            <a:pPr marL="177800" indent="-177800">
              <a:lnSpc>
                <a:spcPts val="182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engineers may struggle to identify root causes</a:t>
            </a:r>
            <a:endParaRPr lang="en-US" sz="1400" dirty="0"/>
          </a:p>
          <a:p>
            <a:pPr marL="177800" indent="-177800">
              <a:lnSpc>
                <a:spcPts val="182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can be time-consuming</a:t>
            </a:r>
            <a:endParaRPr lang="en-US" sz="1400" dirty="0"/>
          </a:p>
          <a:p>
            <a:pPr marL="177800" indent="-177800">
              <a:lnSpc>
                <a:spcPts val="1820"/>
              </a:lnSpc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assumptions may result in incorrect fixes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37083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“PC receives an IP address but cannot communicate with a server.”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5166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SYMPTOM — MANY POSSIBLE CAUSES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SYMPTOM, MULTIPLE FAULTS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0788" y="2217420"/>
            <a:ext cx="777240" cy="77724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8590788" y="22174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890" dirty="0"/>
          </a:p>
        </p:txBody>
      </p:sp>
      <p:sp>
        <p:nvSpPr>
          <p:cNvPr id="12" name="Text 10"/>
          <p:cNvSpPr/>
          <p:nvPr/>
        </p:nvSpPr>
        <p:spPr>
          <a:xfrm>
            <a:off x="8522208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979408" y="3200400"/>
            <a:ext cx="0" cy="45720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365760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9408" y="3200400"/>
            <a:ext cx="0" cy="45720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09560" y="365760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79408" y="3200400"/>
            <a:ext cx="850392" cy="45720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365760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79408" y="3200400"/>
            <a:ext cx="2176272" cy="45720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61320" y="365760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61320" y="3657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79408" y="3200400"/>
            <a:ext cx="0" cy="123444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43484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4434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79408" y="3200400"/>
            <a:ext cx="0" cy="123444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09560" y="443484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4434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79408" y="3200400"/>
            <a:ext cx="850392" cy="123444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35440" y="443484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35440" y="4434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979408" y="3200400"/>
            <a:ext cx="2176272" cy="1234440"/>
          </a:xfrm>
          <a:prstGeom prst="line">
            <a:avLst/>
          </a:prstGeom>
          <a:noFill/>
          <a:ln w="15875">
            <a:solidFill>
              <a:srgbClr val="D6E4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61320" y="4434840"/>
            <a:ext cx="1188720" cy="594360"/>
          </a:xfrm>
          <a:prstGeom prst="roundRect">
            <a:avLst>
              <a:gd name="adj" fmla="val 7692"/>
            </a:avLst>
          </a:prstGeom>
          <a:solidFill>
            <a:srgbClr val="EAF2F8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61320" y="4434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AND NEED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 Intelligent Assistant Helps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troubleshooting assistance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diagnostic process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support for junior engineers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guesswork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troubleshooting workflow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before final decision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09360" y="1600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52560" y="1600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5B7A93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65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43216" y="2423160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2569464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5B7A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5694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Docs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43216" y="3026664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3172968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5B7A93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172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Commands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43216" y="3630168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9360" y="377647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5B7A93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776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Fault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43216" y="4233672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4379976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5B7A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43799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52560" y="19659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40696" y="2423160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2569464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5694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140696" y="3026664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27" name="Shape 25"/>
          <p:cNvSpPr/>
          <p:nvPr/>
        </p:nvSpPr>
        <p:spPr>
          <a:xfrm>
            <a:off x="9052560" y="3172968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3172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Analysis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140696" y="3630168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30" name="Shape 28"/>
          <p:cNvSpPr/>
          <p:nvPr/>
        </p:nvSpPr>
        <p:spPr>
          <a:xfrm>
            <a:off x="9052560" y="3776472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/>
        </p:spPr>
      </p:sp>
      <p:sp>
        <p:nvSpPr>
          <p:cNvPr id="31" name="Text 29"/>
          <p:cNvSpPr/>
          <p:nvPr/>
        </p:nvSpPr>
        <p:spPr>
          <a:xfrm>
            <a:off x="9281160" y="37764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140696" y="4233672"/>
            <a:ext cx="201168" cy="146304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4379976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437997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4380" y="1741932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6" name="Text 4"/>
          <p:cNvSpPr/>
          <p:nvPr/>
        </p:nvSpPr>
        <p:spPr>
          <a:xfrm>
            <a:off x="754380" y="1741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network symptoms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7276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7940" y="174193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0" name="Text 8"/>
          <p:cNvSpPr/>
          <p:nvPr/>
        </p:nvSpPr>
        <p:spPr>
          <a:xfrm>
            <a:off x="6377940" y="17419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1" name="Text 9"/>
          <p:cNvSpPr/>
          <p:nvPr/>
        </p:nvSpPr>
        <p:spPr>
          <a:xfrm>
            <a:off x="7040880" y="157276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Cisco-style show-command outputs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3288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4380" y="2702052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1417320" y="253288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common network faults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53288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7940" y="270205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8" name="Text 16"/>
          <p:cNvSpPr/>
          <p:nvPr/>
        </p:nvSpPr>
        <p:spPr>
          <a:xfrm>
            <a:off x="6377940" y="27020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7040880" y="253288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likely root causes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9300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4380" y="3662172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" y="36621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23" name="Text 21"/>
          <p:cNvSpPr/>
          <p:nvPr/>
        </p:nvSpPr>
        <p:spPr>
          <a:xfrm>
            <a:off x="1417320" y="349300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problems to OSI layers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349300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77940" y="366217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26" name="Text 24"/>
          <p:cNvSpPr/>
          <p:nvPr/>
        </p:nvSpPr>
        <p:spPr>
          <a:xfrm>
            <a:off x="6377940" y="36621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7040880" y="349300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evidence-backed recommendations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45312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4380" y="4622292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0" name="Text 28"/>
          <p:cNvSpPr/>
          <p:nvPr/>
        </p:nvSpPr>
        <p:spPr>
          <a:xfrm>
            <a:off x="754380" y="46222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70" dirty="0"/>
          </a:p>
        </p:txBody>
      </p:sp>
      <p:sp>
        <p:nvSpPr>
          <p:cNvPr id="31" name="Text 29"/>
          <p:cNvSpPr/>
          <p:nvPr/>
        </p:nvSpPr>
        <p:spPr>
          <a:xfrm>
            <a:off x="1417320" y="445312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troubleshooting commands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45312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77940" y="462229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34" name="Text 32"/>
          <p:cNvSpPr/>
          <p:nvPr/>
        </p:nvSpPr>
        <p:spPr>
          <a:xfrm>
            <a:off x="6377940" y="46222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70" dirty="0"/>
          </a:p>
        </p:txBody>
      </p:sp>
      <p:sp>
        <p:nvSpPr>
          <p:cNvPr id="35" name="Text 33"/>
          <p:cNvSpPr/>
          <p:nvPr/>
        </p:nvSpPr>
        <p:spPr>
          <a:xfrm>
            <a:off x="7040880" y="445312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remediation steps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41324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54380" y="5582412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" y="55824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70" dirty="0"/>
          </a:p>
        </p:txBody>
      </p:sp>
      <p:sp>
        <p:nvSpPr>
          <p:cNvPr id="39" name="Text 37"/>
          <p:cNvSpPr/>
          <p:nvPr/>
        </p:nvSpPr>
        <p:spPr>
          <a:xfrm>
            <a:off x="1417320" y="541324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human oversight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172200" y="5413248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77940" y="5582412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42" name="Text 40"/>
          <p:cNvSpPr/>
          <p:nvPr/>
        </p:nvSpPr>
        <p:spPr>
          <a:xfrm>
            <a:off x="6377940" y="55824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70" dirty="0"/>
          </a:p>
        </p:txBody>
      </p:sp>
      <p:sp>
        <p:nvSpPr>
          <p:cNvPr id="43" name="Text 41"/>
          <p:cNvSpPr/>
          <p:nvPr/>
        </p:nvSpPr>
        <p:spPr>
          <a:xfrm>
            <a:off x="7040880" y="541324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future LLM integration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Troubleshooting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48840" y="20436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7" name="Shape 5"/>
          <p:cNvSpPr/>
          <p:nvPr/>
        </p:nvSpPr>
        <p:spPr>
          <a:xfrm>
            <a:off x="2441448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41648" y="20436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0" name="Shape 8"/>
          <p:cNvSpPr/>
          <p:nvPr/>
        </p:nvSpPr>
        <p:spPr>
          <a:xfrm>
            <a:off x="4334256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4407408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34456" y="20436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7064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27264" y="20436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8193024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720072" y="20436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12680" y="1691640"/>
            <a:ext cx="1600200" cy="868680"/>
          </a:xfrm>
          <a:prstGeom prst="roundRect">
            <a:avLst>
              <a:gd name="adj" fmla="val 6316"/>
            </a:avLst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5832" y="1691640"/>
            <a:ext cx="1453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10515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network rules provide structured findings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logic converts findings into a structured recommendation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validates the recommendation</a:t>
            </a:r>
            <a:endParaRPr lang="en-US" sz="1500" dirty="0"/>
          </a:p>
          <a:p>
            <a:pPr marL="177800" indent="-177800">
              <a:lnSpc>
                <a:spcPts val="195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decisions can be recorded for future evaluation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57984" y="141732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40864" y="14173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Network Engineer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07608" y="185623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7" name="Shape 5"/>
          <p:cNvSpPr/>
          <p:nvPr/>
        </p:nvSpPr>
        <p:spPr>
          <a:xfrm>
            <a:off x="2157984" y="196596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40864" y="19659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Case Input  —  Symptom + Topology + Show Output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07608" y="240487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10" name="Shape 8"/>
          <p:cNvSpPr/>
          <p:nvPr/>
        </p:nvSpPr>
        <p:spPr>
          <a:xfrm>
            <a:off x="2157984" y="251460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40864" y="25146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Rule Checker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07608" y="295351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13" name="Shape 11"/>
          <p:cNvSpPr/>
          <p:nvPr/>
        </p:nvSpPr>
        <p:spPr>
          <a:xfrm>
            <a:off x="2157984" y="306324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306324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  —  Evidence + Severity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07608" y="350215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7984" y="361188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40864" y="361188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  —  Mock / AI-Oriented Mode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07608" y="405079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19" name="Shape 17"/>
          <p:cNvSpPr/>
          <p:nvPr/>
        </p:nvSpPr>
        <p:spPr>
          <a:xfrm>
            <a:off x="2157984" y="416052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40864" y="41605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Diagnosis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007608" y="459943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7984" y="470916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132C47"/>
          </a:solidFill>
          <a:ln w="12700">
            <a:solidFill>
              <a:srgbClr val="00BC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40864" y="470916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07608" y="5148072"/>
            <a:ext cx="164592" cy="109728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7984" y="5257800"/>
            <a:ext cx="7863840" cy="438912"/>
          </a:xfrm>
          <a:prstGeom prst="roundRect">
            <a:avLst>
              <a:gd name="adj" fmla="val 10417"/>
            </a:avLst>
          </a:prstGeom>
          <a:solidFill>
            <a:srgbClr val="049FD9"/>
          </a:solidFill>
          <a:ln w="12700">
            <a:solidFill>
              <a:srgbClr val="244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40864" y="525780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/ Edited / Rejected  →  Review Log +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32204" y="178308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6" name="Text 4"/>
          <p:cNvSpPr/>
          <p:nvPr/>
        </p:nvSpPr>
        <p:spPr>
          <a:xfrm>
            <a:off x="163220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8368" y="235000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64261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and troubleshooting logic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6002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21124" y="178308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1" name="Text 9"/>
          <p:cNvSpPr/>
          <p:nvPr/>
        </p:nvSpPr>
        <p:spPr>
          <a:xfrm>
            <a:off x="442112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47288" y="235000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0" y="264261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interface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10044" y="178308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6" name="Text 14"/>
          <p:cNvSpPr/>
          <p:nvPr/>
        </p:nvSpPr>
        <p:spPr>
          <a:xfrm>
            <a:off x="721004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236208" y="235000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64261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processing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915400" y="1600200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98964" y="1783080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1" name="Text 19"/>
          <p:cNvSpPr/>
          <p:nvPr/>
        </p:nvSpPr>
        <p:spPr>
          <a:xfrm>
            <a:off x="999896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25128" y="2350008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052560" y="2642616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review-log storage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182112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32204" y="33649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6" name="Text 24"/>
          <p:cNvSpPr/>
          <p:nvPr/>
        </p:nvSpPr>
        <p:spPr>
          <a:xfrm>
            <a:off x="1632204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8368" y="39319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/ Streamlit Charts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4224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dashboard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37560" y="3182112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21124" y="33649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1" name="Text 29"/>
          <p:cNvSpPr/>
          <p:nvPr/>
        </p:nvSpPr>
        <p:spPr>
          <a:xfrm>
            <a:off x="4421124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3447288" y="39319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 Architecture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74720" y="4224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/ future LLM integration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26480" y="3182112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10044" y="33649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6" name="Text 34"/>
          <p:cNvSpPr/>
          <p:nvPr/>
        </p:nvSpPr>
        <p:spPr>
          <a:xfrm>
            <a:off x="7210044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236208" y="39319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Networking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63640" y="4224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domain knowledge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15400" y="3182112"/>
            <a:ext cx="262432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998964" y="3364992"/>
            <a:ext cx="457200" cy="45720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41" name="Text 39"/>
          <p:cNvSpPr/>
          <p:nvPr/>
        </p:nvSpPr>
        <p:spPr>
          <a:xfrm>
            <a:off x="9998964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9025128" y="3931920"/>
            <a:ext cx="2404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venv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052560" y="4224528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138928"/>
            <a:ext cx="11109960" cy="566928"/>
          </a:xfrm>
          <a:prstGeom prst="roundRect">
            <a:avLst>
              <a:gd name="adj" fmla="val 12903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22960" y="5138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prototype operates in mock/rule-assisted diagnosis mode due to API quota limitations.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331720" cy="1828800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108960" y="1600200"/>
          <a:ext cx="850392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FIELDS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41605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41605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26480" y="41605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Note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15400" y="41605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6" name="Text 13"/>
          <p:cNvSpPr/>
          <p:nvPr/>
        </p:nvSpPr>
        <p:spPr>
          <a:xfrm>
            <a:off x="8915400" y="41605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6634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Fault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337560" y="46634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0" name="Text 17"/>
          <p:cNvSpPr/>
          <p:nvPr/>
        </p:nvSpPr>
        <p:spPr>
          <a:xfrm>
            <a:off x="333756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46634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2" name="Text 19"/>
          <p:cNvSpPr/>
          <p:nvPr/>
        </p:nvSpPr>
        <p:spPr>
          <a:xfrm>
            <a:off x="612648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915400" y="466344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4663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349240"/>
            <a:ext cx="11109960" cy="54864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simulated Cisco-style lab troubleshooting scenarios — not production network data.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RULE-BASED 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Rule Checker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Show Output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596896" y="2167128"/>
            <a:ext cx="201168" cy="128016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95144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9514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/ Rule Analysis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96896" y="2770632"/>
            <a:ext cx="201168" cy="128016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898648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986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Detection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96896" y="3374136"/>
            <a:ext cx="201168" cy="128016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02152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Extraction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596896" y="3977640"/>
            <a:ext cx="201168" cy="128016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105656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0565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Classification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596896" y="4581144"/>
            <a:ext cx="201168" cy="128016"/>
          </a:xfrm>
          <a:prstGeom prst="downArrow">
            <a:avLst/>
          </a:prstGeom>
          <a:solidFill>
            <a:srgbClr val="049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709160"/>
            <a:ext cx="4297680" cy="475488"/>
          </a:xfrm>
          <a:prstGeom prst="roundRect">
            <a:avLst>
              <a:gd name="adj" fmla="val 11538"/>
            </a:avLst>
          </a:prstGeom>
          <a:solidFill>
            <a:srgbClr val="0B1F3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7091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5780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DETECTED PROBLEMS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205740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94960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24" name="Text 22"/>
          <p:cNvSpPr/>
          <p:nvPr/>
        </p:nvSpPr>
        <p:spPr>
          <a:xfrm>
            <a:off x="5641848" y="2057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administratively down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85632" y="205740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22792" y="23317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27" name="Text 25"/>
          <p:cNvSpPr/>
          <p:nvPr/>
        </p:nvSpPr>
        <p:spPr>
          <a:xfrm>
            <a:off x="8869680" y="2057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VLAN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57800" y="286207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94960" y="31363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30" name="Text 28"/>
          <p:cNvSpPr/>
          <p:nvPr/>
        </p:nvSpPr>
        <p:spPr>
          <a:xfrm>
            <a:off x="5641848" y="2862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not allowed on trunk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85632" y="2862072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22792" y="31363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33" name="Text 31"/>
          <p:cNvSpPr/>
          <p:nvPr/>
        </p:nvSpPr>
        <p:spPr>
          <a:xfrm>
            <a:off x="8869680" y="28620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mismatch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57800" y="3666744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3941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36" name="Text 34"/>
          <p:cNvSpPr/>
          <p:nvPr/>
        </p:nvSpPr>
        <p:spPr>
          <a:xfrm>
            <a:off x="5641848" y="36667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route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485632" y="3666744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22792" y="394106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39" name="Text 37"/>
          <p:cNvSpPr/>
          <p:nvPr/>
        </p:nvSpPr>
        <p:spPr>
          <a:xfrm>
            <a:off x="8869680" y="366674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 issue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57800" y="4471416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394960" y="47457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42" name="Text 40"/>
          <p:cNvSpPr/>
          <p:nvPr/>
        </p:nvSpPr>
        <p:spPr>
          <a:xfrm>
            <a:off x="5641848" y="44714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issue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85632" y="4471416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622792" y="47457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BCEB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0" y="44714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NAT-related issue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1099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772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provide predictable and evidence-based findings before diagnosis.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DIAGNOSIS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Engine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Symptom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7180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Show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28346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747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20440" y="2651760"/>
            <a:ext cx="457200" cy="365760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1645920"/>
            <a:ext cx="3246120" cy="2788920"/>
          </a:xfrm>
          <a:prstGeom prst="roundRect">
            <a:avLst>
              <a:gd name="adj" fmla="val 2623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783080"/>
            <a:ext cx="2926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"root_cause": "...",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"osi_layer": "...",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"evidence": [ ],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"next_command": "...",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0BC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"fix_steps": [ ] 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2651760"/>
            <a:ext cx="457200" cy="365760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459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38160" y="1965960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19659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2468880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8138160" y="246888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 + Confidence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971800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3" name="Text 21"/>
          <p:cNvSpPr/>
          <p:nvPr/>
        </p:nvSpPr>
        <p:spPr>
          <a:xfrm>
            <a:off x="8138160" y="297180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Next Command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474720"/>
            <a:ext cx="3520440" cy="402336"/>
          </a:xfrm>
          <a:prstGeom prst="roundRect">
            <a:avLst>
              <a:gd name="adj" fmla="val 50000"/>
            </a:avLst>
          </a:prstGeom>
          <a:solidFill>
            <a:srgbClr val="EA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4747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Steps + Human 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8F7FB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5166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rule-assisted diagnosis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63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5166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LLM-powered diagnosis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3020" y="139446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6" name="Text 4"/>
          <p:cNvSpPr/>
          <p:nvPr/>
        </p:nvSpPr>
        <p:spPr>
          <a:xfrm>
            <a:off x="1303020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640080" y="207568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Case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78608" y="233629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9" name="Shape 7"/>
          <p:cNvSpPr/>
          <p:nvPr/>
        </p:nvSpPr>
        <p:spPr>
          <a:xfrm>
            <a:off x="2724912" y="16916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9292" y="139446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1" name="Text 9"/>
          <p:cNvSpPr/>
          <p:nvPr/>
        </p:nvSpPr>
        <p:spPr>
          <a:xfrm>
            <a:off x="3479292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2816352" y="207568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Symptom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233629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901184" y="16916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55564" y="139446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6" name="Text 14"/>
          <p:cNvSpPr/>
          <p:nvPr/>
        </p:nvSpPr>
        <p:spPr>
          <a:xfrm>
            <a:off x="5655564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4992624" y="207568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Topology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31152" y="233629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077456" y="16916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831836" y="139446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21" name="Text 19"/>
          <p:cNvSpPr/>
          <p:nvPr/>
        </p:nvSpPr>
        <p:spPr>
          <a:xfrm>
            <a:off x="7831836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7168896" y="207568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Show Output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07424" y="233629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3728" y="169164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08108" y="139446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008108" y="13944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9345168" y="207568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Rule Checker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303020" y="326898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30" name="Text 28"/>
          <p:cNvSpPr/>
          <p:nvPr/>
        </p:nvSpPr>
        <p:spPr>
          <a:xfrm>
            <a:off x="1303020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70" dirty="0"/>
          </a:p>
        </p:txBody>
      </p:sp>
      <p:sp>
        <p:nvSpPr>
          <p:cNvPr id="31" name="Text 29"/>
          <p:cNvSpPr/>
          <p:nvPr/>
        </p:nvSpPr>
        <p:spPr>
          <a:xfrm>
            <a:off x="640080" y="39502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Diagnosis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578608" y="421081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33" name="Shape 31"/>
          <p:cNvSpPr/>
          <p:nvPr/>
        </p:nvSpPr>
        <p:spPr>
          <a:xfrm>
            <a:off x="2724912" y="35661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479292" y="326898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35" name="Text 33"/>
          <p:cNvSpPr/>
          <p:nvPr/>
        </p:nvSpPr>
        <p:spPr>
          <a:xfrm>
            <a:off x="3479292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70" dirty="0"/>
          </a:p>
        </p:txBody>
      </p:sp>
      <p:sp>
        <p:nvSpPr>
          <p:cNvPr id="36" name="Text 34"/>
          <p:cNvSpPr/>
          <p:nvPr/>
        </p:nvSpPr>
        <p:spPr>
          <a:xfrm>
            <a:off x="2816352" y="39502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421081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38" name="Shape 36"/>
          <p:cNvSpPr/>
          <p:nvPr/>
        </p:nvSpPr>
        <p:spPr>
          <a:xfrm>
            <a:off x="4901184" y="35661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55564" y="326898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40" name="Text 38"/>
          <p:cNvSpPr/>
          <p:nvPr/>
        </p:nvSpPr>
        <p:spPr>
          <a:xfrm>
            <a:off x="5655564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70" dirty="0"/>
          </a:p>
        </p:txBody>
      </p:sp>
      <p:sp>
        <p:nvSpPr>
          <p:cNvPr id="41" name="Text 39"/>
          <p:cNvSpPr/>
          <p:nvPr/>
        </p:nvSpPr>
        <p:spPr>
          <a:xfrm>
            <a:off x="4992624" y="39502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Next Command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31152" y="421081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43" name="Shape 41"/>
          <p:cNvSpPr/>
          <p:nvPr/>
        </p:nvSpPr>
        <p:spPr>
          <a:xfrm>
            <a:off x="7077456" y="35661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831836" y="326898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45" name="Text 43"/>
          <p:cNvSpPr/>
          <p:nvPr/>
        </p:nvSpPr>
        <p:spPr>
          <a:xfrm>
            <a:off x="7831836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70" dirty="0"/>
          </a:p>
        </p:txBody>
      </p:sp>
      <p:sp>
        <p:nvSpPr>
          <p:cNvPr id="46" name="Text 44"/>
          <p:cNvSpPr/>
          <p:nvPr/>
        </p:nvSpPr>
        <p:spPr>
          <a:xfrm>
            <a:off x="7168896" y="39502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107424" y="4210812"/>
            <a:ext cx="128016" cy="128016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48" name="Shape 46"/>
          <p:cNvSpPr/>
          <p:nvPr/>
        </p:nvSpPr>
        <p:spPr>
          <a:xfrm>
            <a:off x="9253728" y="35661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10008108" y="326898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50" name="Text 48"/>
          <p:cNvSpPr/>
          <p:nvPr/>
        </p:nvSpPr>
        <p:spPr>
          <a:xfrm>
            <a:off x="10008108" y="32689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70" dirty="0"/>
          </a:p>
        </p:txBody>
      </p:sp>
      <p:sp>
        <p:nvSpPr>
          <p:cNvPr id="51" name="Text 49"/>
          <p:cNvSpPr/>
          <p:nvPr/>
        </p:nvSpPr>
        <p:spPr>
          <a:xfrm>
            <a:off x="9345168" y="395020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Decision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interface concept — module layout as implemented in the Streamlit app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0B1F33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78308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" y="178308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2130552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30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2514600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14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purpose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2898648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98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explanation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15968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15968" y="1691640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0B1F33"/>
          </a:solidFill>
          <a:ln/>
        </p:spPr>
      </p:sp>
      <p:sp>
        <p:nvSpPr>
          <p:cNvPr id="19" name="Shape 17"/>
          <p:cNvSpPr/>
          <p:nvPr/>
        </p:nvSpPr>
        <p:spPr>
          <a:xfrm>
            <a:off x="4425696" y="178308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90288" y="178308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78308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NETWORK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80560" y="2130552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2130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selection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2514600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26" name="Text 24"/>
          <p:cNvSpPr/>
          <p:nvPr/>
        </p:nvSpPr>
        <p:spPr>
          <a:xfrm>
            <a:off x="4590288" y="2514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+ topology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480560" y="2898648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28" name="Text 26"/>
          <p:cNvSpPr/>
          <p:nvPr/>
        </p:nvSpPr>
        <p:spPr>
          <a:xfrm>
            <a:off x="4590288" y="2898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output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282696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30" name="Text 28"/>
          <p:cNvSpPr/>
          <p:nvPr/>
        </p:nvSpPr>
        <p:spPr>
          <a:xfrm>
            <a:off x="4590288" y="32826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3666744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32" name="Text 30"/>
          <p:cNvSpPr/>
          <p:nvPr/>
        </p:nvSpPr>
        <p:spPr>
          <a:xfrm>
            <a:off x="4590288" y="3666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83296" y="1691640"/>
            <a:ext cx="3566160" cy="41605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83296" y="1691640"/>
            <a:ext cx="3566160" cy="292608"/>
          </a:xfrm>
          <a:prstGeom prst="roundRect">
            <a:avLst>
              <a:gd name="adj" fmla="val 18750"/>
            </a:avLst>
          </a:prstGeom>
          <a:solidFill>
            <a:srgbClr val="0B1F33"/>
          </a:solidFill>
          <a:ln/>
        </p:spPr>
      </p:sp>
      <p:sp>
        <p:nvSpPr>
          <p:cNvPr id="35" name="Shape 33"/>
          <p:cNvSpPr/>
          <p:nvPr/>
        </p:nvSpPr>
        <p:spPr>
          <a:xfrm>
            <a:off x="8193024" y="1783080"/>
            <a:ext cx="109728" cy="109728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6" name="Shape 34"/>
          <p:cNvSpPr/>
          <p:nvPr/>
        </p:nvSpPr>
        <p:spPr>
          <a:xfrm>
            <a:off x="8357616" y="1783080"/>
            <a:ext cx="109728" cy="109728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7" name="Shape 35"/>
          <p:cNvSpPr/>
          <p:nvPr/>
        </p:nvSpPr>
        <p:spPr>
          <a:xfrm>
            <a:off x="8522208" y="1783080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8" name="Text 36"/>
          <p:cNvSpPr/>
          <p:nvPr/>
        </p:nvSpPr>
        <p:spPr>
          <a:xfrm>
            <a:off x="8723376" y="1691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RESULT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247888" y="2130552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40" name="Text 38"/>
          <p:cNvSpPr/>
          <p:nvPr/>
        </p:nvSpPr>
        <p:spPr>
          <a:xfrm>
            <a:off x="8357616" y="2130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47888" y="2514600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42" name="Text 40"/>
          <p:cNvSpPr/>
          <p:nvPr/>
        </p:nvSpPr>
        <p:spPr>
          <a:xfrm>
            <a:off x="8357616" y="2514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command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47888" y="2898648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44" name="Text 42"/>
          <p:cNvSpPr/>
          <p:nvPr/>
        </p:nvSpPr>
        <p:spPr>
          <a:xfrm>
            <a:off x="8357616" y="28986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steps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247888" y="3282696"/>
            <a:ext cx="3236976" cy="310896"/>
          </a:xfrm>
          <a:prstGeom prst="roundRect">
            <a:avLst>
              <a:gd name="adj" fmla="val 11765"/>
            </a:avLst>
          </a:prstGeom>
          <a:solidFill>
            <a:srgbClr val="EAF2F8"/>
          </a:solidFill>
          <a:ln/>
        </p:spPr>
      </p:sp>
      <p:sp>
        <p:nvSpPr>
          <p:cNvPr id="46" name="Text 44"/>
          <p:cNvSpPr/>
          <p:nvPr/>
        </p:nvSpPr>
        <p:spPr>
          <a:xfrm>
            <a:off x="8357616" y="32826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action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Review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267048" y="141732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132C47"/>
          </a:solidFill>
          <a:ln/>
        </p:spPr>
      </p:sp>
      <p:sp>
        <p:nvSpPr>
          <p:cNvPr id="5" name="Text 3"/>
          <p:cNvSpPr/>
          <p:nvPr/>
        </p:nvSpPr>
        <p:spPr>
          <a:xfrm>
            <a:off x="4267048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Rule Diagnosis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13552" y="1874520"/>
            <a:ext cx="164592" cy="256032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7" name="Shape 5"/>
          <p:cNvSpPr/>
          <p:nvPr/>
        </p:nvSpPr>
        <p:spPr>
          <a:xfrm>
            <a:off x="4724248" y="2130552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049FD9"/>
          </a:solidFill>
          <a:ln/>
        </p:spPr>
      </p:sp>
      <p:sp>
        <p:nvSpPr>
          <p:cNvPr id="8" name="Text 6"/>
          <p:cNvSpPr/>
          <p:nvPr/>
        </p:nvSpPr>
        <p:spPr>
          <a:xfrm>
            <a:off x="4724248" y="21305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13552" y="2587752"/>
            <a:ext cx="164592" cy="228600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10" name="Shape 8"/>
          <p:cNvSpPr/>
          <p:nvPr/>
        </p:nvSpPr>
        <p:spPr>
          <a:xfrm>
            <a:off x="6095848" y="2816352"/>
            <a:ext cx="0" cy="246888"/>
          </a:xfrm>
          <a:prstGeom prst="line">
            <a:avLst/>
          </a:prstGeom>
          <a:noFill/>
          <a:ln w="15875">
            <a:solidFill>
              <a:srgbClr val="00BC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72488" y="3063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32C47"/>
          </a:solidFill>
          <a:ln/>
        </p:spPr>
      </p:sp>
      <p:sp>
        <p:nvSpPr>
          <p:cNvPr id="12" name="Text 10"/>
          <p:cNvSpPr/>
          <p:nvPr/>
        </p:nvSpPr>
        <p:spPr>
          <a:xfrm>
            <a:off x="2072488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072488" y="3593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agrees with the diagnosis.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5848" y="2816352"/>
            <a:ext cx="0" cy="246888"/>
          </a:xfrm>
          <a:prstGeom prst="line">
            <a:avLst/>
          </a:prstGeom>
          <a:noFill/>
          <a:ln w="15875">
            <a:solidFill>
              <a:srgbClr val="00BC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5688" y="3063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132C47"/>
          </a:solidFill>
          <a:ln/>
        </p:spPr>
      </p:sp>
      <p:sp>
        <p:nvSpPr>
          <p:cNvPr id="16" name="Text 14"/>
          <p:cNvSpPr/>
          <p:nvPr/>
        </p:nvSpPr>
        <p:spPr>
          <a:xfrm>
            <a:off x="4815688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15688" y="3593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modifies the diagnosis.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95848" y="2816352"/>
            <a:ext cx="2743200" cy="246888"/>
          </a:xfrm>
          <a:prstGeom prst="line">
            <a:avLst/>
          </a:prstGeom>
          <a:noFill/>
          <a:ln w="15875">
            <a:solidFill>
              <a:srgbClr val="00BC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58888" y="306324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7A2530"/>
          </a:solidFill>
          <a:ln/>
        </p:spPr>
      </p:sp>
      <p:sp>
        <p:nvSpPr>
          <p:cNvPr id="20" name="Text 18"/>
          <p:cNvSpPr/>
          <p:nvPr/>
        </p:nvSpPr>
        <p:spPr>
          <a:xfrm>
            <a:off x="7558888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58888" y="35935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determines the diagnosis is incorrect.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13552" y="4114800"/>
            <a:ext cx="164592" cy="182880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23" name="Shape 21"/>
          <p:cNvSpPr/>
          <p:nvPr/>
        </p:nvSpPr>
        <p:spPr>
          <a:xfrm>
            <a:off x="4449928" y="4361688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049FD9"/>
          </a:solidFill>
          <a:ln/>
        </p:spPr>
      </p:sp>
      <p:sp>
        <p:nvSpPr>
          <p:cNvPr id="24" name="Text 22"/>
          <p:cNvSpPr/>
          <p:nvPr/>
        </p:nvSpPr>
        <p:spPr>
          <a:xfrm>
            <a:off x="4449928" y="43616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Diagnosis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13552" y="4800600"/>
            <a:ext cx="164592" cy="182880"/>
          </a:xfrm>
          <a:prstGeom prst="downArrow">
            <a:avLst/>
          </a:prstGeom>
          <a:solidFill>
            <a:srgbClr val="00BCEB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9928" y="5038344"/>
            <a:ext cx="3291840" cy="438912"/>
          </a:xfrm>
          <a:prstGeom prst="roundRect">
            <a:avLst>
              <a:gd name="adj" fmla="val 12500"/>
            </a:avLst>
          </a:prstGeom>
          <a:solidFill>
            <a:srgbClr val="132C47"/>
          </a:solidFill>
          <a:ln/>
        </p:spPr>
      </p:sp>
      <p:sp>
        <p:nvSpPr>
          <p:cNvPr id="27" name="Text 25"/>
          <p:cNvSpPr/>
          <p:nvPr/>
        </p:nvSpPr>
        <p:spPr>
          <a:xfrm>
            <a:off x="4449928" y="503834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109960" cy="457200"/>
          </a:xfrm>
          <a:prstGeom prst="roundRect">
            <a:avLst>
              <a:gd name="adj" fmla="val 16000"/>
            </a:avLst>
          </a:prstGeom>
          <a:solidFill>
            <a:srgbClr val="132C47"/>
          </a:solidFill>
          <a:ln w="12700">
            <a:solidFill>
              <a:srgbClr val="24486B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" y="58521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system recommends; the human decides.”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&amp; Analytics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8F2E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troubleshooting cases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networking concept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severity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information where available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288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32C4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28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rate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 rate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AI–human agreement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vs. correctness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network faults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TROUBLESHOOTING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Scenario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CEFD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98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SCENARIO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1109960" cy="47548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0" y="18745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cannot communicate with another device.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0" y="235000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administratively down.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11109960" cy="47548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2549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282549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status problem detected.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30098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ROOT CAUSE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0" y="330098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is administratively down.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76472"/>
            <a:ext cx="11109960" cy="47548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764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 LAYER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3776472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Physical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COMMAND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0" y="42519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interface status and configuration.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27448"/>
            <a:ext cx="11109960" cy="47548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274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FIX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0" y="47274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interface (e.g., "no shutdown").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" y="520293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0" y="52029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815584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exact scenario is not present in the uploaded project, it is presented only as a demonstration — not experimental evidence.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76022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Testing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74320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dataset structure and required fields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16352" y="1600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76022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2907792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Checker Testing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26080" y="274320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common network fault conditions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84064" y="1600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07024" y="176022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16" name="Text 14"/>
          <p:cNvSpPr/>
          <p:nvPr/>
        </p:nvSpPr>
        <p:spPr>
          <a:xfrm>
            <a:off x="5907024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5175504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Testing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93792" y="274320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structured diagnosis 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51776" y="1600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74736" y="1760220"/>
            <a:ext cx="502920" cy="502920"/>
          </a:xfrm>
          <a:prstGeom prst="ellipse">
            <a:avLst/>
          </a:prstGeom>
          <a:solidFill>
            <a:srgbClr val="00BCEB"/>
          </a:solidFill>
          <a:ln/>
        </p:spPr>
      </p:sp>
      <p:sp>
        <p:nvSpPr>
          <p:cNvPr id="21" name="Text 19"/>
          <p:cNvSpPr/>
          <p:nvPr/>
        </p:nvSpPr>
        <p:spPr>
          <a:xfrm>
            <a:off x="8174736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7443216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Testing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61504" y="274320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Accept / Edit / Reject workflow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19488" y="1600200"/>
            <a:ext cx="2148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42448" y="1760220"/>
            <a:ext cx="502920" cy="502920"/>
          </a:xfrm>
          <a:prstGeom prst="ellipse">
            <a:avLst/>
          </a:prstGeom>
          <a:solidFill>
            <a:srgbClr val="049FD9"/>
          </a:solidFill>
          <a:ln/>
        </p:spPr>
      </p:sp>
      <p:sp>
        <p:nvSpPr>
          <p:cNvPr id="26" name="Text 24"/>
          <p:cNvSpPr/>
          <p:nvPr/>
        </p:nvSpPr>
        <p:spPr>
          <a:xfrm>
            <a:off x="10442448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70" dirty="0"/>
          </a:p>
        </p:txBody>
      </p:sp>
      <p:sp>
        <p:nvSpPr>
          <p:cNvPr id="27" name="Text 25"/>
          <p:cNvSpPr/>
          <p:nvPr/>
        </p:nvSpPr>
        <p:spPr>
          <a:xfrm>
            <a:off x="9710928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Testing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729216" y="2743200"/>
            <a:ext cx="1929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Streamlit application behavior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CATEGORIES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975104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975104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401568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01568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28032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254496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680960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0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07424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9107424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533888" y="3977640"/>
            <a:ext cx="129844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10533888" y="3977640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22960" y="48646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testing was used to validate application workflow and module behavior.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822960" y="523036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 of 100% accuracy is made. Numerical results are reported only where supported by the uploaded materials.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AND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292840" cy="38404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0" y="16002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464040" y="1600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84248"/>
            <a:ext cx="11292840" cy="56692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8424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quota limitation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9842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rule-assisted mode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464040" y="1984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preserved for future LLM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5117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structured troubleshooting cases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511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36-case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464040" y="25511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18104"/>
            <a:ext cx="11292840" cy="566928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diagnosis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31181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findings + structured outputs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464040" y="31181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685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6850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 Edit / Reject workflow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464040" y="36850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72744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/ simulated troubleshooting scenarios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Cisco-style outputs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network-device integration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727448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deterministic rule coverage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storage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large-scale AI accuracy evaluation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AND 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&amp; 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49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reasoning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blind automation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logging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correction</a:t>
            </a:r>
            <a:endParaRPr lang="en-US" sz="1200" dirty="0"/>
          </a:p>
          <a:p>
            <a:pPr marL="177800" indent="-177800">
              <a:lnSpc>
                <a:spcPts val="156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remains with the reviewer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3429000"/>
          </a:xfrm>
          <a:prstGeom prst="roundRect">
            <a:avLst>
              <a:gd name="adj" fmla="val 2133"/>
            </a:avLst>
          </a:prstGeom>
          <a:solidFill>
            <a:srgbClr val="0B1F33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 API integration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Cisco documentation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show-command parsing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network-device integration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monitoring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06840" y="214884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analysis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fault detection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100" dirty="0"/>
          </a:p>
          <a:p>
            <a:pPr marL="177800" indent="-177800">
              <a:lnSpc>
                <a:spcPts val="1430"/>
              </a:lnSpc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AI-human analytics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5349240"/>
            <a:ext cx="3493008" cy="640080"/>
          </a:xfrm>
          <a:prstGeom prst="roundRect">
            <a:avLst>
              <a:gd name="adj" fmla="val 8571"/>
            </a:avLst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534924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41648" y="55869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4256" y="5349240"/>
            <a:ext cx="3493008" cy="640080"/>
          </a:xfrm>
          <a:prstGeom prst="roundRect">
            <a:avLst>
              <a:gd name="adj" fmla="val 8571"/>
            </a:avLst>
          </a:prstGeom>
          <a:solidFill>
            <a:srgbClr val="0B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534924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Assistant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27264" y="5586984"/>
            <a:ext cx="292608" cy="164592"/>
          </a:xfrm>
          <a:prstGeom prst="rightArrow">
            <a:avLst/>
          </a:prstGeom>
          <a:solidFill>
            <a:srgbClr val="049FD9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5349240"/>
            <a:ext cx="3493008" cy="640080"/>
          </a:xfrm>
          <a:prstGeom prst="roundRect">
            <a:avLst>
              <a:gd name="adj" fmla="val 8571"/>
            </a:avLst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8193024" y="5349240"/>
            <a:ext cx="3346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Network Operations Platform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NetSage AI  •  Yash Yadav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6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132C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Python-based network troubleshooting prototype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36 Cisco-style troubleshooting cases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deterministic rule checking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AI-oriented diagnosis workflow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mandatory human review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Streamlit-based interface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responsible AI principles</a:t>
            </a:r>
            <a:endParaRPr lang="en-US" sz="1350" dirty="0"/>
          </a:p>
          <a:p>
            <a:pPr marL="177800" indent="-177800">
              <a:lnSpc>
                <a:spcPts val="1755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foundation for future real LLM integration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343400" cy="2103120"/>
          </a:xfrm>
          <a:prstGeom prst="roundRect">
            <a:avLst>
              <a:gd name="adj" fmla="val 3478"/>
            </a:avLst>
          </a:prstGeom>
          <a:solidFill>
            <a:srgbClr val="132C47"/>
          </a:solidFill>
          <a:ln w="12700">
            <a:solidFill>
              <a:srgbClr val="D6E4EE"/>
            </a:solidFill>
            <a:prstDash val="solid"/>
          </a:ln>
          <a:effectLst>
            <a:outerShdw blurRad="101600" dist="25400" dir="5400000" algn="bl" rotWithShape="0">
              <a:srgbClr val="0B1F33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0" y="17373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BC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“NetSage AI demonstrates how AI-assisted systems can support network troubleshooting while keeping humans responsible for the final decision.”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12700">
            <a:solidFill>
              <a:srgbClr val="2448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Yadav   |   Roll No. 2410030788   |   IILM University, Greater Noida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0B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1305</Words>
  <Application>Microsoft Office PowerPoint</Application>
  <PresentationFormat>Widescreen</PresentationFormat>
  <Paragraphs>432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 Yadav</cp:lastModifiedBy>
  <cp:revision>2</cp:revision>
  <dcterms:created xsi:type="dcterms:W3CDTF">2026-08-30T06:37:15Z</dcterms:created>
  <dcterms:modified xsi:type="dcterms:W3CDTF">2026-08-30T07:02:33Z</dcterms:modified>
</cp:coreProperties>
</file>